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0" r:id="rId4"/>
    <p:sldId id="261" r:id="rId5"/>
    <p:sldId id="281" r:id="rId6"/>
    <p:sldId id="282" r:id="rId7"/>
    <p:sldId id="283" r:id="rId8"/>
    <p:sldId id="263" r:id="rId9"/>
    <p:sldId id="275" r:id="rId10"/>
    <p:sldId id="279" r:id="rId11"/>
    <p:sldId id="286" r:id="rId12"/>
    <p:sldId id="280" r:id="rId13"/>
    <p:sldId id="277" r:id="rId14"/>
    <p:sldId id="273" r:id="rId15"/>
    <p:sldId id="272" r:id="rId16"/>
    <p:sldId id="284" r:id="rId17"/>
    <p:sldId id="278" r:id="rId18"/>
    <p:sldId id="285" r:id="rId19"/>
    <p:sldId id="265" r:id="rId20"/>
    <p:sldId id="262" r:id="rId21"/>
  </p:sldIdLst>
  <p:sldSz cx="14630400" cy="8229600"/>
  <p:notesSz cx="8229600" cy="14630400"/>
  <p:embeddedFontLs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Montserrat Medium" panose="00000600000000000000" pitchFamily="2" charset="0"/>
      <p:regular r:id="rId27"/>
      <p:italic r:id="rId28"/>
    </p:embeddedFont>
    <p:embeddedFont>
      <p:font typeface="Verdana Pro" panose="020B0604030504040204" pitchFamily="34" charset="0"/>
      <p:regular r:id="rId29"/>
      <p:bold r:id="rId30"/>
      <p:italic r:id="rId31"/>
      <p:boldItalic r:id="rId32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526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73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30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D0A7B-C71B-B85C-1AAB-09E64B367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FABDC-1541-4026-49D1-5C3BACE55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6151D-4E7C-F3E0-B6E5-F81054CEE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03EE6-CA9C-AA1A-3C18-6481B8B5B3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35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27F1-DA18-48F5-3600-5A4BD0CB2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C8AE1-5726-1C53-1649-F736BA435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50BA7E-8481-57F7-819D-D60382488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EDB8C-232E-2B8D-540E-EDCA9B735C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56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26E30-8319-3C7B-6028-6BA0666BC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4AD87F-F9B8-E244-0CB2-3DA873924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E86F6-FBCB-D359-66C2-E07BA4852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FCE34-5619-819E-DB37-74E5894A05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17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98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80FBB-2155-26B2-A0A5-7016AA384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B000F-CF1A-22E0-C8BB-1CE472C4A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28FFB-6579-2009-B706-E267D76B1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37FA2-1089-104D-38DA-0B6253524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46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646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39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3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4" Type="http://schemas.openxmlformats.org/officeDocument/2006/relationships/slide" Target="slid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" Target="slide3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" Target="slide3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103239"/>
            <a:ext cx="8096324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00"/>
              </a:lnSpc>
              <a:spcAft>
                <a:spcPts val="1800"/>
              </a:spcAft>
              <a:buNone/>
            </a:pPr>
            <a:r>
              <a:rPr lang="en-US" sz="6000" b="1" dirty="0">
                <a:solidFill>
                  <a:srgbClr val="FF3399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Hackathon PSTB</a:t>
            </a:r>
            <a:endParaRPr lang="en-US" sz="1600" b="1" dirty="0">
              <a:solidFill>
                <a:srgbClr val="FF3399"/>
              </a:solidFill>
              <a:latin typeface="Verdana Pro" panose="020B0604030504040204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ctr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Price Tracker </a:t>
            </a:r>
          </a:p>
          <a:p>
            <a:pPr marL="0" indent="0" algn="ctr">
              <a:lnSpc>
                <a:spcPts val="5600"/>
              </a:lnSpc>
              <a:buNone/>
            </a:pPr>
            <a:r>
              <a:rPr lang="en-US" sz="360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The Hunt for the Best Deals</a:t>
            </a:r>
            <a:endParaRPr lang="en-US" sz="3600" dirty="0">
              <a:latin typeface="Verdana Pro" panose="020B060403050404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707700" y="6973829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b="1" i="1" u="sng" dirty="0">
                <a:solidFill>
                  <a:srgbClr val="7030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Alexandre Perrault / Olivier de Cibeins - Les tontons de la donnée</a:t>
            </a:r>
            <a:endParaRPr lang="en-US" sz="1700" u="sng" dirty="0">
              <a:solidFill>
                <a:srgbClr val="7030A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707700" y="7286460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b="1" i="1" dirty="0">
                <a:solidFill>
                  <a:srgbClr val="7030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30/06/2025</a:t>
            </a:r>
            <a:endParaRPr lang="en-US" sz="1700" dirty="0">
              <a:solidFill>
                <a:srgbClr val="7030A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342221" y="5887879"/>
            <a:ext cx="151448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OC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195" y="86859"/>
            <a:ext cx="6450396" cy="534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00"/>
              </a:lnSpc>
            </a:pPr>
            <a:r>
              <a:rPr lang="en-US" sz="3600" b="1" dirty="0" err="1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Contexte</a:t>
            </a:r>
            <a:r>
              <a:rPr lang="en-US" sz="360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 &amp; </a:t>
            </a:r>
            <a:r>
              <a:rPr lang="en-US" sz="3600" b="1" dirty="0" err="1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problématique</a:t>
            </a:r>
            <a:endParaRPr lang="en-US" sz="2400" b="1" dirty="0">
              <a:solidFill>
                <a:srgbClr val="7068F4"/>
              </a:solidFill>
              <a:latin typeface="Verdana Pro" panose="020B0604030504040204" pitchFamily="34" charset="0"/>
              <a:ea typeface="Barlow Bold" pitchFamily="34" charset="-122"/>
              <a:cs typeface="Barlow Bold" pitchFamily="34" charset="-120"/>
            </a:endParaRPr>
          </a:p>
          <a:p>
            <a:pPr>
              <a:lnSpc>
                <a:spcPts val="5600"/>
              </a:lnSpc>
            </a:pPr>
            <a:endParaRPr lang="en-US" sz="3600" b="1" dirty="0">
              <a:solidFill>
                <a:srgbClr val="7068F4"/>
              </a:solidFill>
              <a:latin typeface="Verdana Pro" panose="020B0604030504040204" pitchFamily="34" charset="0"/>
              <a:ea typeface="Barlow Bold" pitchFamily="34" charset="-122"/>
            </a:endParaRPr>
          </a:p>
          <a:p>
            <a:pPr>
              <a:lnSpc>
                <a:spcPts val="5600"/>
              </a:lnSpc>
            </a:pPr>
            <a:endParaRPr lang="en-US" sz="3600" dirty="0">
              <a:latin typeface="Verdana Pro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3195" y="1127128"/>
            <a:ext cx="6358652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Ajustement du sujet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3195" y="1598259"/>
            <a:ext cx="6358652" cy="4393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>
              <a:lnSpc>
                <a:spcPts val="2000"/>
              </a:lnSpc>
              <a:buSzPct val="100000"/>
              <a:tabLst>
                <a:tab pos="358775" algn="l"/>
              </a:tabLst>
            </a:pPr>
            <a:r>
              <a:rPr lang="en-US" sz="1600" b="1" u="sng" dirty="0" err="1">
                <a:solidFill>
                  <a:srgbClr val="272525"/>
                </a:solidFill>
                <a:latin typeface="Montserrat" pitchFamily="34" charset="0"/>
              </a:rPr>
              <a:t>Sujet</a:t>
            </a:r>
            <a:r>
              <a:rPr lang="en-US" sz="1600" b="1" u="sng" dirty="0">
                <a:solidFill>
                  <a:srgbClr val="272525"/>
                </a:solidFill>
                <a:latin typeface="Montserrat" pitchFamily="34" charset="0"/>
              </a:rPr>
              <a:t> </a:t>
            </a:r>
            <a:r>
              <a:rPr lang="en-US" sz="1600" b="1" u="sng" dirty="0" err="1">
                <a:solidFill>
                  <a:srgbClr val="272525"/>
                </a:solidFill>
                <a:latin typeface="Montserrat" pitchFamily="34" charset="0"/>
              </a:rPr>
              <a:t>originel</a:t>
            </a:r>
            <a:r>
              <a:rPr lang="en-US" sz="1600" b="1" u="sng" dirty="0">
                <a:solidFill>
                  <a:srgbClr val="272525"/>
                </a:solidFill>
                <a:latin typeface="Montserrat" pitchFamily="34" charset="0"/>
              </a:rPr>
              <a:t> : </a:t>
            </a:r>
          </a:p>
          <a:p>
            <a:pPr lvl="1">
              <a:lnSpc>
                <a:spcPts val="2000"/>
              </a:lnSpc>
              <a:buSzPct val="100000"/>
              <a:tabLst>
                <a:tab pos="358775" algn="l"/>
              </a:tabLst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the prices of consumer electronics and analyze pricing trends.</a:t>
            </a: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endParaRPr lang="en-US" sz="900" dirty="0">
              <a:solidFill>
                <a:srgbClr val="272525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indent="358775"/>
            <a:r>
              <a:rPr lang="fr-FR" sz="1600" b="1" u="sng" dirty="0">
                <a:solidFill>
                  <a:srgbClr val="272525"/>
                </a:solidFill>
                <a:latin typeface="Montserrat" pitchFamily="34" charset="0"/>
              </a:rPr>
              <a:t>Questions retenu</a:t>
            </a:r>
            <a:r>
              <a:rPr lang="fr-FR" sz="1600" b="1" dirty="0">
                <a:solidFill>
                  <a:srgbClr val="272525"/>
                </a:solidFill>
                <a:latin typeface="Montserrat" pitchFamily="34" charset="0"/>
              </a:rPr>
              <a:t>:</a:t>
            </a:r>
          </a:p>
          <a:p>
            <a:pPr marL="742950" lvl="1" indent="-285750">
              <a:lnSpc>
                <a:spcPts val="27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 les prix des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produits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fluctuent-ils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dans le temps, et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existe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-t-il des tendances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saisonnières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</a:p>
          <a:p>
            <a:pPr marL="742950" lvl="1" indent="-285750">
              <a:lnSpc>
                <a:spcPts val="27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Quelle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corrélation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existe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entre les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avis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clients, les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évaluations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et les prix des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produits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</a:p>
          <a:p>
            <a:pPr marL="742950" lvl="1" indent="-285750">
              <a:lnSpc>
                <a:spcPts val="2700"/>
              </a:lnSpc>
              <a:buSzPct val="100000"/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72525"/>
              </a:solidFill>
              <a:latin typeface="Montserrat" pitchFamily="34" charset="0"/>
            </a:endParaRPr>
          </a:p>
          <a:p>
            <a:pPr>
              <a:lnSpc>
                <a:spcPts val="2700"/>
              </a:lnSpc>
              <a:buSzPct val="100000"/>
              <a:tabLst>
                <a:tab pos="358775" algn="l"/>
              </a:tabLst>
            </a:pPr>
            <a:r>
              <a:rPr lang="en-US" sz="1600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	</a:t>
            </a:r>
            <a:r>
              <a:rPr lang="en-US" sz="1600" b="1" u="sng" dirty="0" err="1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Enjeux</a:t>
            </a:r>
            <a:r>
              <a:rPr lang="en-US" sz="1600" b="1" u="sng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1600" b="1" u="sng" dirty="0" err="1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identifiés</a:t>
            </a:r>
            <a:r>
              <a:rPr lang="en-US" sz="1600" b="1" u="sng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1600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:</a:t>
            </a:r>
            <a:endParaRPr lang="en-US" sz="1600" b="1" dirty="0">
              <a:solidFill>
                <a:srgbClr val="272525"/>
              </a:solidFill>
              <a:latin typeface="Verdana Pro" panose="020B0604030504040204" pitchFamily="34" charset="0"/>
              <a:ea typeface="Barlow Bold" pitchFamily="34" charset="-122"/>
            </a:endParaRPr>
          </a:p>
          <a:p>
            <a:pPr marL="800100" lvl="1" indent="-342900">
              <a:lnSpc>
                <a:spcPts val="27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Suivi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des prix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alimentaires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et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analyse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des tendances</a:t>
            </a:r>
          </a:p>
          <a:p>
            <a:pPr marL="800100" lvl="1" indent="-342900">
              <a:lnSpc>
                <a:spcPts val="27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Corrélation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entre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avis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clients et prix des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produits</a:t>
            </a:r>
            <a:endParaRPr lang="en-US" sz="1600" dirty="0">
              <a:solidFill>
                <a:srgbClr val="272525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800100" lvl="1" indent="-342900">
              <a:lnSpc>
                <a:spcPts val="27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Analyse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des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plateformes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les plus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compétitives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inadapté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à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dataset</a:t>
            </a:r>
            <a:endParaRPr lang="en-US" sz="1600" dirty="0">
              <a:latin typeface="Verdana Pro" panose="020B0604030504040204" pitchFamily="34" charset="0"/>
            </a:endParaRPr>
          </a:p>
          <a:p>
            <a:pPr>
              <a:lnSpc>
                <a:spcPts val="2700"/>
              </a:lnSpc>
              <a:buSzPct val="100000"/>
            </a:pPr>
            <a:endParaRPr lang="en-US" sz="1600" dirty="0"/>
          </a:p>
          <a:p>
            <a:pPr>
              <a:lnSpc>
                <a:spcPts val="2000"/>
              </a:lnSpc>
              <a:buSzPct val="100000"/>
            </a:pPr>
            <a:endParaRPr lang="en-US" sz="1600" dirty="0">
              <a:solidFill>
                <a:srgbClr val="272525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>
              <a:lnSpc>
                <a:spcPts val="2000"/>
              </a:lnSpc>
              <a:buSzPct val="100000"/>
              <a:tabLst>
                <a:tab pos="358775" algn="l"/>
              </a:tabLst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	</a:t>
            </a:r>
          </a:p>
          <a:p>
            <a:pPr algn="l">
              <a:lnSpc>
                <a:spcPts val="2000"/>
              </a:lnSpc>
              <a:buSzPct val="100000"/>
            </a:pPr>
            <a:endParaRPr lang="en-US" sz="1600" dirty="0">
              <a:solidFill>
                <a:srgbClr val="272525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endParaRPr lang="en-US" sz="1600" dirty="0">
              <a:solidFill>
                <a:srgbClr val="272525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endParaRPr lang="en-US" sz="1600" dirty="0">
              <a:solidFill>
                <a:srgbClr val="272525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algn="l">
              <a:lnSpc>
                <a:spcPts val="2000"/>
              </a:lnSpc>
              <a:buSzPct val="100000"/>
            </a:pPr>
            <a:endParaRPr lang="en-US" sz="1600" dirty="0">
              <a:solidFill>
                <a:srgbClr val="272525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933" y="787074"/>
            <a:ext cx="6450397" cy="41496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10623" y="5280294"/>
            <a:ext cx="6065140" cy="1919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Kaggle - " https://www.kaggle.com/datasets/</a:t>
            </a:r>
            <a:br>
              <a:rPr lang="en-US" sz="1400" b="1" i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400" b="1" i="1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aradhanahirapara</a:t>
            </a:r>
            <a:r>
              <a:rPr lang="en-US" sz="1400" b="1" i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/product-retail-price-survey-2017-2025“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Données sur les </a:t>
            </a:r>
            <a:r>
              <a:rPr lang="en-US" sz="1400" b="1" i="1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produits</a:t>
            </a:r>
            <a:r>
              <a:rPr lang="en-US" sz="1400" b="1" i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400" b="1" i="1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supermarché</a:t>
            </a:r>
            <a:r>
              <a:rPr lang="en-US" sz="1400" b="1" i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</a:t>
            </a:r>
            <a:r>
              <a:rPr lang="en-US" sz="1400" b="1" i="1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alimentaires</a:t>
            </a:r>
            <a:r>
              <a:rPr lang="en-US" sz="1400" b="1" i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1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hygiène</a:t>
            </a:r>
            <a:r>
              <a:rPr lang="en-US" sz="1400" b="1" i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</a:t>
            </a:r>
            <a:r>
              <a:rPr lang="en-US" sz="1400" b="1" i="1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beauté</a:t>
            </a:r>
            <a:r>
              <a:rPr lang="en-US" sz="1400" b="1" i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au Canada 2017 – 2025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</a:t>
            </a:r>
            <a:r>
              <a:rPr lang="en-US" sz="1400" b="1" i="1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colonnes</a:t>
            </a:r>
            <a:r>
              <a:rPr lang="en-US" sz="1400" b="1" i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× 118481 </a:t>
            </a:r>
            <a:r>
              <a:rPr lang="en-US" sz="1400" b="1" i="1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lignes</a:t>
            </a:r>
            <a:endParaRPr lang="en-US" sz="1400" b="1" i="1" dirty="0"/>
          </a:p>
          <a:p>
            <a:pPr>
              <a:lnSpc>
                <a:spcPts val="2000"/>
              </a:lnSpc>
            </a:pPr>
            <a:endParaRPr lang="en-US" sz="1400" b="1" i="1" dirty="0"/>
          </a:p>
          <a:p>
            <a:pPr marL="0" indent="0" algn="l">
              <a:lnSpc>
                <a:spcPts val="2000"/>
              </a:lnSpc>
              <a:buNone/>
            </a:pPr>
            <a:endParaRPr lang="en-US" sz="1400" b="1" i="1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EA7935E-6ACF-803E-8DFC-AE6C3C45383D}"/>
              </a:ext>
            </a:extLst>
          </p:cNvPr>
          <p:cNvSpPr txBox="1"/>
          <p:nvPr/>
        </p:nvSpPr>
        <p:spPr>
          <a:xfrm>
            <a:off x="416689" y="7671911"/>
            <a:ext cx="124312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i="1" dirty="0">
                <a:solidFill>
                  <a:schemeClr val="tx2"/>
                </a:solidFill>
                <a:latin typeface="Verdana Pro" panose="020B0604030504040204" pitchFamily="34" charset="0"/>
              </a:rPr>
              <a:t>Price Tracker: The Hunt for the Best Deals</a:t>
            </a:r>
            <a:endParaRPr lang="fr-FR" sz="1600" i="1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C8056EAE-909B-649D-3437-76DE1A83D701}"/>
              </a:ext>
            </a:extLst>
          </p:cNvPr>
          <p:cNvSpPr/>
          <p:nvPr/>
        </p:nvSpPr>
        <p:spPr>
          <a:xfrm>
            <a:off x="6021442" y="2873464"/>
            <a:ext cx="7194233" cy="1462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700"/>
              </a:lnSpc>
              <a:buSzPct val="100000"/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E6018675-90FB-865B-6A22-67C3DD9554CF}"/>
              </a:ext>
            </a:extLst>
          </p:cNvPr>
          <p:cNvSpPr/>
          <p:nvPr/>
        </p:nvSpPr>
        <p:spPr>
          <a:xfrm>
            <a:off x="6021442" y="5356136"/>
            <a:ext cx="7194233" cy="1658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Wingdings" panose="05000000000000000000" pitchFamily="2" charset="2"/>
              <a:buChar char="§"/>
            </a:pPr>
            <a:endParaRPr lang="en-US" sz="1700" dirty="0"/>
          </a:p>
          <a:p>
            <a:pPr marL="285750" indent="-285750">
              <a:lnSpc>
                <a:spcPts val="2700"/>
              </a:lnSpc>
              <a:buSzPct val="100000"/>
              <a:buFont typeface="Wingdings" panose="05000000000000000000" pitchFamily="2" charset="2"/>
              <a:buChar char="§"/>
            </a:pP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584" y="123029"/>
            <a:ext cx="691157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000" b="1" dirty="0" err="1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Méthodologie</a:t>
            </a:r>
            <a:endParaRPr lang="en-US" sz="4000" dirty="0">
              <a:latin typeface="Verdana Pro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23584" y="1377233"/>
            <a:ext cx="314860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Préparation des données</a:t>
            </a:r>
            <a:endParaRPr lang="en-US" sz="2800" dirty="0">
              <a:latin typeface="Verdana Pro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23584" y="1950042"/>
            <a:ext cx="6292572" cy="557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7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Recherche 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d'un dataset de qualité (thème de substitution)</a:t>
            </a:r>
          </a:p>
          <a:p>
            <a:pPr marL="342900" indent="-342900">
              <a:lnSpc>
                <a:spcPts val="27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700" b="1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Chargement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des données CSV multi-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mois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(2017-2025)</a:t>
            </a:r>
          </a:p>
          <a:p>
            <a:pPr marL="342900" indent="-342900">
              <a:lnSpc>
                <a:spcPts val="27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700" b="1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Nettoyage</a:t>
            </a:r>
            <a:r>
              <a:rPr lang="en-US" sz="17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des données 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</a:t>
            </a:r>
          </a:p>
          <a:p>
            <a:pPr marL="800100" lvl="1" indent="-342900">
              <a:lnSpc>
                <a:spcPts val="27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harmonisation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des types (dates, prix, …),</a:t>
            </a:r>
          </a:p>
          <a:p>
            <a:pPr marL="800100" lvl="1" indent="-342900">
              <a:lnSpc>
                <a:spcPts val="27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aucune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valeur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nulle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manquante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outlier significative</a:t>
            </a:r>
          </a:p>
          <a:p>
            <a:pPr marL="285750" lvl="1" indent="-285750">
              <a:lnSpc>
                <a:spcPts val="27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700" b="1" dirty="0" err="1">
                <a:solidFill>
                  <a:srgbClr val="272525"/>
                </a:solidFill>
                <a:latin typeface="Montserrat" pitchFamily="34" charset="0"/>
              </a:rPr>
              <a:t>Analyse</a:t>
            </a:r>
            <a:r>
              <a:rPr lang="en-US" sz="1700" b="1" dirty="0">
                <a:solidFill>
                  <a:srgbClr val="272525"/>
                </a:solidFill>
                <a:latin typeface="Montserrat" pitchFamily="34" charset="0"/>
              </a:rPr>
              <a:t> </a:t>
            </a:r>
            <a:r>
              <a:rPr lang="en-US" sz="1700" b="1" dirty="0" err="1">
                <a:solidFill>
                  <a:srgbClr val="272525"/>
                </a:solidFill>
                <a:latin typeface="Montserrat" pitchFamily="34" charset="0"/>
              </a:rPr>
              <a:t>exploratoire</a:t>
            </a:r>
            <a:r>
              <a:rPr lang="en-US" sz="1700" b="1" dirty="0">
                <a:solidFill>
                  <a:srgbClr val="272525"/>
                </a:solidFill>
                <a:latin typeface="Montserrat" pitchFamily="34" charset="0"/>
              </a:rPr>
              <a:t> : </a:t>
            </a:r>
          </a:p>
          <a:p>
            <a:pPr marL="800100" lvl="1" indent="-342900">
              <a:lnSpc>
                <a:spcPts val="27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</a:rPr>
              <a:t>Identification des variables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</a:rPr>
              <a:t>clés</a:t>
            </a:r>
            <a:endParaRPr lang="en-US" sz="1700" dirty="0">
              <a:solidFill>
                <a:srgbClr val="272525"/>
              </a:solidFill>
              <a:latin typeface="Montserrat" pitchFamily="34" charset="0"/>
            </a:endParaRPr>
          </a:p>
          <a:p>
            <a:pPr marL="800100" lvl="1" indent="-342900">
              <a:lnSpc>
                <a:spcPts val="27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Génération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données pour les reviews</a:t>
            </a:r>
          </a:p>
          <a:p>
            <a:pPr marL="800100" lvl="1" indent="-342900">
              <a:lnSpc>
                <a:spcPts val="27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Ajout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dimensions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temporelles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(date,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année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mois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saison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</a:t>
            </a:r>
            <a:endParaRPr lang="en-US" sz="1700" dirty="0"/>
          </a:p>
          <a:p>
            <a:pPr marL="800100" lvl="1" indent="-342900">
              <a:lnSpc>
                <a:spcPts val="27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</a:rPr>
              <a:t>suppression des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</a:rPr>
              <a:t>colonnes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</a:rPr>
              <a:t>inutiles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</a:rPr>
              <a:t> ('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</a:rPr>
              <a:t>QualityScore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</a:rPr>
              <a:t>', '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</a:rPr>
              <a:t>NormPrice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</a:rPr>
              <a:t>', 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'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Essential_Bonus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', '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Region_Weight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', '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Month_Weight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', '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Year_Trend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’).</a:t>
            </a:r>
          </a:p>
          <a:p>
            <a:pPr marL="342900" indent="-342900">
              <a:lnSpc>
                <a:spcPts val="2700"/>
              </a:lnSpc>
              <a:buSzPct val="100000"/>
              <a:buFontTx/>
              <a:buChar char="•"/>
            </a:pP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23584" y="2719187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52414" y="1377233"/>
            <a:ext cx="329707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 err="1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Analyse</a:t>
            </a:r>
            <a:r>
              <a:rPr lang="en-US" sz="280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2800" b="1" dirty="0" err="1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approfondie</a:t>
            </a:r>
            <a:endParaRPr lang="en-US" sz="2800" dirty="0">
              <a:latin typeface="Verdana Pro" panose="020B060403050404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52414" y="1960999"/>
            <a:ext cx="6292572" cy="4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Extraction year, month, season pour détecter saisonnalités puis fusion Année + Mois en colonne Date (datetime)</a:t>
            </a:r>
          </a:p>
          <a:p>
            <a:pPr marL="342900" indent="-342900">
              <a:lnSpc>
                <a:spcPts val="27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des prix moyens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mensuels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catégorie</a:t>
            </a:r>
            <a:endParaRPr lang="en-US" sz="1700" dirty="0">
              <a:solidFill>
                <a:srgbClr val="272525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>
              <a:lnSpc>
                <a:spcPts val="27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Analyse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catégorie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produit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et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caractère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essential</a:t>
            </a:r>
          </a:p>
          <a:p>
            <a:pPr marL="342900" indent="-342900">
              <a:lnSpc>
                <a:spcPts val="27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Identification des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produits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populaires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fréquence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d’apparition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volume de ventes)</a:t>
            </a:r>
          </a:p>
          <a:p>
            <a:pPr marL="342900" indent="-342900">
              <a:lnSpc>
                <a:spcPts val="27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</a:rPr>
              <a:t>Recherche de correlations</a:t>
            </a:r>
            <a:endParaRPr lang="en-US" sz="1700" dirty="0"/>
          </a:p>
          <a:p>
            <a:pPr marL="342900" indent="-342900">
              <a:lnSpc>
                <a:spcPts val="2700"/>
              </a:lnSpc>
              <a:buSzPct val="100000"/>
              <a:buFontTx/>
              <a:buChar char="•"/>
            </a:pPr>
            <a:endParaRPr lang="en-US" sz="1700" dirty="0"/>
          </a:p>
          <a:p>
            <a:pPr marL="342900" indent="-342900">
              <a:lnSpc>
                <a:spcPts val="2700"/>
              </a:lnSpc>
              <a:buSzPct val="100000"/>
              <a:buFontTx/>
              <a:buChar char="•"/>
            </a:pP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endParaRPr lang="en-US" sz="1700" dirty="0"/>
          </a:p>
        </p:txBody>
      </p:sp>
      <p:sp>
        <p:nvSpPr>
          <p:cNvPr id="17" name="Bouton d’action : avant ou précédent 1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852FF2A-6875-8A2B-7D1F-DDA6B18E3881}"/>
              </a:ext>
            </a:extLst>
          </p:cNvPr>
          <p:cNvSpPr/>
          <p:nvPr/>
        </p:nvSpPr>
        <p:spPr>
          <a:xfrm>
            <a:off x="13266253" y="6794339"/>
            <a:ext cx="613458" cy="544010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CD200CC-FE5E-3F46-AEDA-B272B4322F1A}"/>
              </a:ext>
            </a:extLst>
          </p:cNvPr>
          <p:cNvSpPr txBox="1"/>
          <p:nvPr/>
        </p:nvSpPr>
        <p:spPr>
          <a:xfrm>
            <a:off x="416689" y="7787661"/>
            <a:ext cx="124312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i="1" dirty="0">
                <a:solidFill>
                  <a:schemeClr val="tx2"/>
                </a:solidFill>
                <a:latin typeface="Verdana Pro" panose="020B0604030504040204" pitchFamily="34" charset="0"/>
              </a:rPr>
              <a:t>Price Tracker: The Hunt for the Best Deals</a:t>
            </a:r>
            <a:endParaRPr lang="fr-FR" sz="1600" i="1" dirty="0"/>
          </a:p>
        </p:txBody>
      </p:sp>
    </p:spTree>
    <p:extLst>
      <p:ext uri="{BB962C8B-B14F-4D97-AF65-F5344CB8AC3E}">
        <p14:creationId xmlns:p14="http://schemas.microsoft.com/office/powerpoint/2010/main" val="2259706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570" y="589717"/>
            <a:ext cx="9956012" cy="670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Enseignements et Conclusion </a:t>
            </a:r>
            <a:r>
              <a:rPr lang="en-US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(1/2)</a:t>
            </a:r>
            <a:endParaRPr lang="en-US" sz="4200" dirty="0">
              <a:latin typeface="Verdana Pro" panose="020B060403050404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70" y="1667232"/>
            <a:ext cx="3996214" cy="24698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0570" y="4391739"/>
            <a:ext cx="2680930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Difficulté principale</a:t>
            </a:r>
            <a:endParaRPr lang="en-US" sz="2100" dirty="0">
              <a:latin typeface="Verdana Pro" panose="020B060403050404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50570" y="4849058"/>
            <a:ext cx="4206597" cy="1303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Recherche d'un dataset adapté : la majorité des sources pertinentes (AMAZON, CamelCamelCamel) sont payantes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0570" y="6223754"/>
            <a:ext cx="4206597" cy="65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 : adoption d'un dataset sur les produits alimentaires et d'hygiène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1842" y="1667232"/>
            <a:ext cx="3996214" cy="24698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1842" y="4391739"/>
            <a:ext cx="2680930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2100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Observations </a:t>
            </a:r>
            <a:r>
              <a:rPr lang="en-US" sz="2100" b="1" dirty="0" err="1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clés</a:t>
            </a:r>
            <a:endParaRPr lang="en-US" sz="2100" b="1" dirty="0">
              <a:solidFill>
                <a:srgbClr val="272525"/>
              </a:solidFill>
              <a:latin typeface="Verdana Pro" panose="020B0604030504040204" pitchFamily="34" charset="0"/>
              <a:ea typeface="Barlow Bold" pitchFamily="34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5211842" y="4849058"/>
            <a:ext cx="4206597" cy="65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Hausses de prix alimentaires en été et fin d'année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211842" y="5572006"/>
            <a:ext cx="4206597" cy="65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Produits essentiels plus chers mais plus stables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211842" y="6294953"/>
            <a:ext cx="4206597" cy="65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Produits non-essentiels avec forte variabilité saisonnière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211842" y="7017901"/>
            <a:ext cx="4206597" cy="65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Évolutions tarifaires contrastées depuis 2022</a:t>
            </a:r>
            <a:endParaRPr lang="en-US" sz="16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3114" y="1667232"/>
            <a:ext cx="3996333" cy="24698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73114" y="4391739"/>
            <a:ext cx="2680930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Pour aller plus loin</a:t>
            </a:r>
          </a:p>
        </p:txBody>
      </p:sp>
      <p:sp>
        <p:nvSpPr>
          <p:cNvPr id="15" name="Text 10"/>
          <p:cNvSpPr/>
          <p:nvPr/>
        </p:nvSpPr>
        <p:spPr>
          <a:xfrm>
            <a:off x="9673114" y="4849057"/>
            <a:ext cx="4206716" cy="2998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Intégration de données multi-plateformes (Amazon, Walmart...) pour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analyse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comparative</a:t>
            </a:r>
          </a:p>
          <a:p>
            <a:pPr marL="342900" indent="-342900">
              <a:lnSpc>
                <a:spcPts val="2550"/>
              </a:lnSpc>
              <a:buSzPct val="100000"/>
              <a:buFontTx/>
              <a:buChar char="•"/>
            </a:pP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Intégrer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les notes et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avis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clients pour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lier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qualité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perçue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et prix</a:t>
            </a:r>
          </a:p>
          <a:p>
            <a:pPr marL="342900" indent="-342900">
              <a:lnSpc>
                <a:spcPts val="2550"/>
              </a:lnSpc>
              <a:buSzPct val="100000"/>
              <a:buFontTx/>
              <a:buChar char="•"/>
            </a:pP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Modèles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prédictifs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prix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saisonniers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6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endParaRPr lang="en-US" sz="16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D483208-EEA0-8724-55E8-2FB6C5065397}"/>
              </a:ext>
            </a:extLst>
          </p:cNvPr>
          <p:cNvSpPr txBox="1"/>
          <p:nvPr/>
        </p:nvSpPr>
        <p:spPr>
          <a:xfrm>
            <a:off x="416689" y="7822386"/>
            <a:ext cx="124312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i="1" dirty="0">
                <a:solidFill>
                  <a:schemeClr val="tx2"/>
                </a:solidFill>
                <a:latin typeface="Verdana Pro" panose="020B0604030504040204" pitchFamily="34" charset="0"/>
              </a:rPr>
              <a:t>Price Tracker: The Hunt for the Best Deals</a:t>
            </a:r>
            <a:endParaRPr lang="fr-FR" sz="1600" i="1" dirty="0"/>
          </a:p>
        </p:txBody>
      </p:sp>
    </p:spTree>
    <p:extLst>
      <p:ext uri="{BB962C8B-B14F-4D97-AF65-F5344CB8AC3E}">
        <p14:creationId xmlns:p14="http://schemas.microsoft.com/office/powerpoint/2010/main" val="2430946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9BFB-0174-99A2-27C4-C982724EB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CB9234FA-0F0A-1600-285D-AF5199D36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568" y="3397612"/>
            <a:ext cx="4371261" cy="779978"/>
          </a:xfrm>
          <a:prstGeom prst="rect">
            <a:avLst/>
          </a:prstGeom>
        </p:spPr>
      </p:pic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D6E8AC00-E449-F3E6-63B1-12E82A185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830" y="3434079"/>
            <a:ext cx="4371261" cy="779978"/>
          </a:xfrm>
          <a:prstGeom prst="rect">
            <a:avLst/>
          </a:prstGeom>
        </p:spPr>
      </p:pic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73A522A8-F23D-5026-82D8-AF46D41DB1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36" y="3429781"/>
            <a:ext cx="4371261" cy="779978"/>
          </a:xfrm>
          <a:prstGeom prst="rect">
            <a:avLst/>
          </a:prstGeom>
        </p:spPr>
      </p:pic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B05D28A-2D30-404F-40B5-32792320E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4630400" cy="2437448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A372BD07-49C1-1E36-CD68-397CAF15ADB5}"/>
              </a:ext>
            </a:extLst>
          </p:cNvPr>
          <p:cNvSpPr/>
          <p:nvPr/>
        </p:nvSpPr>
        <p:spPr>
          <a:xfrm>
            <a:off x="9683185" y="6463249"/>
            <a:ext cx="3027283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Verdana Pro" panose="020B060403050404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8C4CC18-A72F-89B6-EECA-F70F4F1B5291}"/>
              </a:ext>
            </a:extLst>
          </p:cNvPr>
          <p:cNvSpPr/>
          <p:nvPr/>
        </p:nvSpPr>
        <p:spPr>
          <a:xfrm>
            <a:off x="953214" y="6409134"/>
            <a:ext cx="398145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46781CD-9428-148C-E85B-BCF98917233E}"/>
              </a:ext>
            </a:extLst>
          </p:cNvPr>
          <p:cNvSpPr/>
          <p:nvPr/>
        </p:nvSpPr>
        <p:spPr>
          <a:xfrm>
            <a:off x="953214" y="6837998"/>
            <a:ext cx="398145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AB5FD8E4-8B0A-EA64-0665-CFA8E26E5CE4}"/>
              </a:ext>
            </a:extLst>
          </p:cNvPr>
          <p:cNvSpPr/>
          <p:nvPr/>
        </p:nvSpPr>
        <p:spPr>
          <a:xfrm>
            <a:off x="5324475" y="3969114"/>
            <a:ext cx="3981450" cy="302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fontAlgn="ctr"/>
            <a:r>
              <a:rPr lang="fr-FR" sz="1600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Comment les avis et les notes des </a:t>
            </a:r>
          </a:p>
          <a:p>
            <a:pPr fontAlgn="ctr"/>
            <a:r>
              <a:rPr lang="fr-FR" sz="1600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clients sont-ils corrélés aux prix </a:t>
            </a:r>
          </a:p>
          <a:p>
            <a:pPr fontAlgn="ctr"/>
            <a:r>
              <a:rPr lang="fr-FR" sz="1600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des produits ?</a:t>
            </a:r>
          </a:p>
          <a:p>
            <a:pPr fontAlgn="ctr"/>
            <a:endParaRPr lang="fr-FR" sz="1600" b="1" dirty="0">
              <a:solidFill>
                <a:srgbClr val="272525"/>
              </a:solidFill>
              <a:latin typeface="Verdana Pro" panose="020B0604030504040204" pitchFamily="34" charset="0"/>
              <a:ea typeface="Barlow Bold" pitchFamily="34" charset="-122"/>
            </a:endParaRPr>
          </a:p>
          <a:p>
            <a:pPr fontAlgn="ctr"/>
            <a:endParaRPr lang="fr-FR" sz="700" b="1" dirty="0">
              <a:solidFill>
                <a:srgbClr val="272525"/>
              </a:solidFill>
              <a:latin typeface="Verdana Pro" panose="020B0604030504040204" pitchFamily="34" charset="0"/>
              <a:ea typeface="Barlow Bold" pitchFamily="34" charset="-122"/>
            </a:endParaRPr>
          </a:p>
          <a:p>
            <a:pPr marL="285750" indent="-285750">
              <a:lnSpc>
                <a:spcPts val="245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</a:rPr>
              <a:t>Forte correlation des prix aux notes </a:t>
            </a:r>
            <a:br>
              <a:rPr lang="en-US" sz="1500" dirty="0">
                <a:solidFill>
                  <a:srgbClr val="272525"/>
                </a:solidFill>
                <a:latin typeface="Montserrat" pitchFamily="34" charset="0"/>
              </a:rPr>
            </a:br>
            <a:r>
              <a:rPr lang="en-US" sz="1500" dirty="0">
                <a:solidFill>
                  <a:srgbClr val="272525"/>
                </a:solidFill>
                <a:latin typeface="Montserrat" pitchFamily="34" charset="0"/>
              </a:rPr>
              <a:t>des clients </a:t>
            </a:r>
            <a:endParaRPr lang="fr-FR" sz="1500" dirty="0">
              <a:solidFill>
                <a:srgbClr val="272525"/>
              </a:solidFill>
              <a:latin typeface="Montserrat" pitchFamily="34" charset="0"/>
            </a:endParaRPr>
          </a:p>
          <a:p>
            <a:pPr fontAlgn="ctr"/>
            <a:endParaRPr lang="fr-FR" b="1" dirty="0">
              <a:solidFill>
                <a:srgbClr val="272525"/>
              </a:solidFill>
              <a:latin typeface="Verdana Pro" panose="020B0604030504040204" pitchFamily="34" charset="0"/>
              <a:ea typeface="Barlow Bold" pitchFamily="34" charset="-122"/>
            </a:endParaRPr>
          </a:p>
          <a:p>
            <a:pPr fontAlgn="ctr"/>
            <a:endParaRPr lang="fr-FR" b="1" dirty="0">
              <a:solidFill>
                <a:srgbClr val="272525"/>
              </a:solidFill>
              <a:latin typeface="Verdana Pro" panose="020B0604030504040204" pitchFamily="34" charset="0"/>
              <a:ea typeface="Barlow Bold" pitchFamily="34" charset="-122"/>
            </a:endParaRPr>
          </a:p>
          <a:p>
            <a:pPr>
              <a:lnSpc>
                <a:spcPts val="2500"/>
              </a:lnSpc>
            </a:pPr>
            <a:endParaRPr lang="en-US" b="1" dirty="0">
              <a:solidFill>
                <a:srgbClr val="272525"/>
              </a:solidFill>
              <a:latin typeface="Verdana Pro" panose="020B0604030504040204" pitchFamily="34" charset="0"/>
              <a:ea typeface="Barlow Bold" pitchFamily="34" charset="-122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73379058-B45F-96A2-7121-59B7730B5233}"/>
              </a:ext>
            </a:extLst>
          </p:cNvPr>
          <p:cNvSpPr/>
          <p:nvPr/>
        </p:nvSpPr>
        <p:spPr>
          <a:xfrm>
            <a:off x="9695736" y="3969113"/>
            <a:ext cx="2777847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 err="1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Autres</a:t>
            </a:r>
            <a:r>
              <a:rPr lang="en-US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 </a:t>
            </a:r>
            <a:r>
              <a:rPr lang="en-US" b="1" dirty="0" err="1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enseignements</a:t>
            </a:r>
            <a:r>
              <a:rPr lang="en-US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 </a:t>
            </a: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504C0707-ED7F-21A0-E62B-9DCB405ED3F8}"/>
              </a:ext>
            </a:extLst>
          </p:cNvPr>
          <p:cNvSpPr/>
          <p:nvPr/>
        </p:nvSpPr>
        <p:spPr>
          <a:xfrm>
            <a:off x="9695736" y="4455617"/>
            <a:ext cx="3981450" cy="2973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1600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1. Anticipation </a:t>
            </a:r>
            <a:r>
              <a:rPr lang="en-US" sz="1600" b="1" dirty="0" err="1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stratégique</a:t>
            </a:r>
            <a:endParaRPr lang="en-US" sz="1600" b="1" dirty="0">
              <a:solidFill>
                <a:srgbClr val="272525"/>
              </a:solidFill>
              <a:latin typeface="Verdana Pro" panose="020B0604030504040204" pitchFamily="34" charset="0"/>
              <a:ea typeface="Barlow Bold" pitchFamily="34" charset="-122"/>
            </a:endParaRPr>
          </a:p>
          <a:p>
            <a:pPr marL="285750" indent="-285750">
              <a:lnSpc>
                <a:spcPts val="245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Démarche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permettant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surveiller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et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prévoir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l'évolution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des prix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alimentaires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pour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optimiser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les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stratégies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d'achat</a:t>
            </a:r>
            <a:endParaRPr lang="en-US" sz="700" dirty="0">
              <a:solidFill>
                <a:srgbClr val="272525"/>
              </a:solidFill>
              <a:latin typeface="Montserrat" pitchFamily="34" charset="0"/>
            </a:endParaRPr>
          </a:p>
          <a:p>
            <a:pPr marL="342900" indent="-342900">
              <a:lnSpc>
                <a:spcPts val="2450"/>
              </a:lnSpc>
              <a:buFont typeface="+mj-lt"/>
              <a:buAutoNum type="arabicPeriod" startAt="2"/>
            </a:pPr>
            <a:r>
              <a:rPr lang="en-US" sz="1600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Structuration des données</a:t>
            </a:r>
          </a:p>
          <a:p>
            <a:pPr marL="285750" indent="-285750">
              <a:lnSpc>
                <a:spcPts val="245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</a:rPr>
              <a:t>Structuration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</a:rPr>
              <a:t>temporelle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</a:rPr>
              <a:t> et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</a:rPr>
              <a:t>catégorielle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</a:rPr>
              <a:t>essentielle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</a:rPr>
              <a:t> pour </a:t>
            </a:r>
            <a:r>
              <a:rPr lang="en-US" sz="1600" dirty="0" err="1">
                <a:solidFill>
                  <a:srgbClr val="272525"/>
                </a:solidFill>
                <a:latin typeface="Montserrat" pitchFamily="34" charset="0"/>
              </a:rPr>
              <a:t>l'analyse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</a:rPr>
              <a:t> des prix.</a:t>
            </a:r>
          </a:p>
          <a:p>
            <a:pPr>
              <a:lnSpc>
                <a:spcPts val="2450"/>
              </a:lnSpc>
            </a:pPr>
            <a:endParaRPr lang="en-US" sz="1600" dirty="0">
              <a:latin typeface="Verdana Pro" panose="020B0604030504040204" pitchFamily="34" charset="0"/>
            </a:endParaRPr>
          </a:p>
          <a:p>
            <a:pPr>
              <a:lnSpc>
                <a:spcPts val="2450"/>
              </a:lnSpc>
            </a:pPr>
            <a:endParaRPr lang="en-US" sz="1600" dirty="0"/>
          </a:p>
          <a:p>
            <a:pPr>
              <a:lnSpc>
                <a:spcPts val="2450"/>
              </a:lnSpc>
            </a:pPr>
            <a:endParaRPr lang="en-US" sz="1600" b="1" dirty="0">
              <a:solidFill>
                <a:srgbClr val="272525"/>
              </a:solidFill>
              <a:latin typeface="Verdana Pro" panose="020B0604030504040204" pitchFamily="34" charset="0"/>
              <a:ea typeface="Barlow Bold" pitchFamily="34" charset="-122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6BE12B4-D0DA-A885-AD73-ECED7C546F3A}"/>
              </a:ext>
            </a:extLst>
          </p:cNvPr>
          <p:cNvSpPr txBox="1"/>
          <p:nvPr/>
        </p:nvSpPr>
        <p:spPr>
          <a:xfrm>
            <a:off x="416689" y="7671911"/>
            <a:ext cx="124312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i="1" dirty="0">
                <a:solidFill>
                  <a:schemeClr val="tx2"/>
                </a:solidFill>
                <a:latin typeface="Verdana Pro" panose="020B0604030504040204" pitchFamily="34" charset="0"/>
              </a:rPr>
              <a:t>Price Tracker: The Hunt for the Best Deals</a:t>
            </a:r>
            <a:endParaRPr lang="fr-FR" sz="1600" i="1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10DBBEF7-1E3E-D845-AEC1-C910D07DCCAB}"/>
              </a:ext>
            </a:extLst>
          </p:cNvPr>
          <p:cNvSpPr/>
          <p:nvPr/>
        </p:nvSpPr>
        <p:spPr>
          <a:xfrm>
            <a:off x="965765" y="4005707"/>
            <a:ext cx="3981450" cy="302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fontAlgn="ctr"/>
            <a:r>
              <a:rPr lang="fr-FR" sz="1600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Comment les prix des produits</a:t>
            </a:r>
          </a:p>
          <a:p>
            <a:pPr fontAlgn="ctr"/>
            <a:r>
              <a:rPr lang="fr-FR" sz="1600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populaires évoluent-ils au fil </a:t>
            </a:r>
          </a:p>
          <a:p>
            <a:pPr fontAlgn="ctr"/>
            <a:r>
              <a:rPr lang="fr-FR" sz="1600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du temps, et observe-t-on des</a:t>
            </a:r>
          </a:p>
          <a:p>
            <a:pPr fontAlgn="ctr"/>
            <a:r>
              <a:rPr lang="fr-FR" sz="1600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tendances saisonnières ?</a:t>
            </a:r>
          </a:p>
          <a:p>
            <a:pPr fontAlgn="ctr"/>
            <a:endParaRPr lang="fr-FR" sz="700" b="1" dirty="0">
              <a:solidFill>
                <a:srgbClr val="272525"/>
              </a:solidFill>
              <a:latin typeface="Verdana Pro" panose="020B0604030504040204" pitchFamily="34" charset="0"/>
              <a:ea typeface="Barlow Bold" pitchFamily="34" charset="-122"/>
            </a:endParaRPr>
          </a:p>
          <a:p>
            <a:pPr marL="285750" indent="-285750">
              <a:lnSpc>
                <a:spcPts val="245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</a:rPr>
              <a:t>Mise </a:t>
            </a:r>
            <a:r>
              <a:rPr lang="en-US" sz="1500" dirty="0" err="1">
                <a:solidFill>
                  <a:srgbClr val="272525"/>
                </a:solidFill>
                <a:latin typeface="Montserrat" pitchFamily="34" charset="0"/>
              </a:rPr>
              <a:t>en</a:t>
            </a:r>
            <a:r>
              <a:rPr lang="en-US" sz="1500" dirty="0">
                <a:solidFill>
                  <a:srgbClr val="272525"/>
                </a:solidFill>
                <a:latin typeface="Montserrat" pitchFamily="34" charset="0"/>
              </a:rPr>
              <a:t> evidence </a:t>
            </a:r>
            <a:r>
              <a:rPr lang="en-US" sz="1500" dirty="0" err="1">
                <a:solidFill>
                  <a:srgbClr val="272525"/>
                </a:solidFill>
                <a:latin typeface="Montserrat" pitchFamily="34" charset="0"/>
              </a:rPr>
              <a:t>d’une</a:t>
            </a:r>
            <a:r>
              <a:rPr lang="en-US" sz="1500" dirty="0">
                <a:solidFill>
                  <a:srgbClr val="272525"/>
                </a:solidFill>
                <a:latin typeface="Montserrat" pitchFamily="34" charset="0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Montserrat" pitchFamily="34" charset="0"/>
              </a:rPr>
              <a:t>nette</a:t>
            </a:r>
            <a:r>
              <a:rPr lang="en-US" sz="1500" dirty="0">
                <a:solidFill>
                  <a:srgbClr val="272525"/>
                </a:solidFill>
                <a:latin typeface="Montserrat" pitchFamily="34" charset="0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Montserrat" pitchFamily="34" charset="0"/>
              </a:rPr>
              <a:t>évolution</a:t>
            </a:r>
            <a:r>
              <a:rPr lang="en-US" sz="1500" dirty="0">
                <a:solidFill>
                  <a:srgbClr val="272525"/>
                </a:solidFill>
                <a:latin typeface="Montserrat" pitchFamily="34" charset="0"/>
              </a:rPr>
              <a:t> </a:t>
            </a:r>
          </a:p>
          <a:p>
            <a:pPr marL="266700">
              <a:lnSpc>
                <a:spcPts val="2450"/>
              </a:lnSpc>
            </a:pPr>
            <a:r>
              <a:rPr lang="en-US" sz="1500" dirty="0" err="1">
                <a:solidFill>
                  <a:srgbClr val="272525"/>
                </a:solidFill>
                <a:latin typeface="Montserrat" pitchFamily="34" charset="0"/>
              </a:rPr>
              <a:t>haussière</a:t>
            </a:r>
            <a:r>
              <a:rPr lang="en-US" sz="1500" dirty="0">
                <a:solidFill>
                  <a:srgbClr val="272525"/>
                </a:solidFill>
                <a:latin typeface="Montserrat" pitchFamily="34" charset="0"/>
              </a:rPr>
              <a:t> (2017-2015)</a:t>
            </a:r>
          </a:p>
          <a:p>
            <a:pPr marL="285750" indent="-285750">
              <a:lnSpc>
                <a:spcPts val="2450"/>
              </a:lnSpc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</a:rPr>
              <a:t>Tendances </a:t>
            </a:r>
            <a:r>
              <a:rPr lang="en-US" sz="1500" dirty="0" err="1">
                <a:solidFill>
                  <a:srgbClr val="272525"/>
                </a:solidFill>
                <a:latin typeface="Montserrat" pitchFamily="34" charset="0"/>
              </a:rPr>
              <a:t>saisonnières</a:t>
            </a:r>
            <a:r>
              <a:rPr lang="en-US" sz="1500" dirty="0">
                <a:solidFill>
                  <a:srgbClr val="272525"/>
                </a:solidFill>
                <a:latin typeface="Montserrat" pitchFamily="34" charset="0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Montserrat" pitchFamily="34" charset="0"/>
              </a:rPr>
              <a:t>marquées</a:t>
            </a:r>
            <a:r>
              <a:rPr lang="en-US" sz="1500" dirty="0">
                <a:solidFill>
                  <a:srgbClr val="272525"/>
                </a:solidFill>
                <a:latin typeface="Montserrat" pitchFamily="34" charset="0"/>
              </a:rPr>
              <a:t> sur </a:t>
            </a:r>
          </a:p>
          <a:p>
            <a:pPr indent="266700">
              <a:lnSpc>
                <a:spcPts val="2450"/>
              </a:lnSpc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</a:rPr>
              <a:t>de </a:t>
            </a:r>
            <a:r>
              <a:rPr lang="en-US" sz="1500" dirty="0" err="1">
                <a:solidFill>
                  <a:srgbClr val="272525"/>
                </a:solidFill>
                <a:latin typeface="Montserrat" pitchFamily="34" charset="0"/>
              </a:rPr>
              <a:t>nombreuses</a:t>
            </a:r>
            <a:r>
              <a:rPr lang="en-US" sz="1500" dirty="0">
                <a:solidFill>
                  <a:srgbClr val="272525"/>
                </a:solidFill>
                <a:latin typeface="Montserrat" pitchFamily="34" charset="0"/>
              </a:rPr>
              <a:t> categories</a:t>
            </a:r>
          </a:p>
          <a:p>
            <a:pPr marL="285750" indent="-285750">
              <a:lnSpc>
                <a:spcPts val="2450"/>
              </a:lnSpc>
              <a:buFont typeface="Wingdings" panose="05000000000000000000" pitchFamily="2" charset="2"/>
              <a:buChar char="§"/>
            </a:pPr>
            <a:r>
              <a:rPr lang="en-US" sz="1500" dirty="0" err="1">
                <a:solidFill>
                  <a:srgbClr val="272525"/>
                </a:solidFill>
                <a:latin typeface="Montserrat" pitchFamily="34" charset="0"/>
              </a:rPr>
              <a:t>Différenciation</a:t>
            </a:r>
            <a:r>
              <a:rPr lang="en-US" sz="1500" dirty="0">
                <a:solidFill>
                  <a:srgbClr val="272525"/>
                </a:solidFill>
                <a:latin typeface="Montserrat" pitchFamily="34" charset="0"/>
              </a:rPr>
              <a:t> entre </a:t>
            </a:r>
            <a:r>
              <a:rPr lang="en-US" sz="1500" dirty="0" err="1">
                <a:solidFill>
                  <a:srgbClr val="272525"/>
                </a:solidFill>
                <a:latin typeface="Montserrat" pitchFamily="34" charset="0"/>
              </a:rPr>
              <a:t>produits</a:t>
            </a:r>
            <a:r>
              <a:rPr lang="en-US" sz="1500" dirty="0">
                <a:solidFill>
                  <a:srgbClr val="272525"/>
                </a:solidFill>
                <a:latin typeface="Montserrat" pitchFamily="34" charset="0"/>
              </a:rPr>
              <a:t> “</a:t>
            </a:r>
            <a:r>
              <a:rPr lang="en-US" sz="1500" dirty="0" err="1">
                <a:solidFill>
                  <a:srgbClr val="272525"/>
                </a:solidFill>
                <a:latin typeface="Montserrat" pitchFamily="34" charset="0"/>
              </a:rPr>
              <a:t>essentiels</a:t>
            </a:r>
            <a:r>
              <a:rPr lang="en-US" sz="1500" dirty="0">
                <a:solidFill>
                  <a:srgbClr val="272525"/>
                </a:solidFill>
                <a:latin typeface="Montserrat" pitchFamily="34" charset="0"/>
              </a:rPr>
              <a:t>” </a:t>
            </a:r>
          </a:p>
          <a:p>
            <a:pPr indent="266700">
              <a:lnSpc>
                <a:spcPts val="2450"/>
              </a:lnSpc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</a:rPr>
              <a:t>et “non-</a:t>
            </a:r>
            <a:r>
              <a:rPr lang="en-US" sz="1500" dirty="0" err="1">
                <a:solidFill>
                  <a:srgbClr val="272525"/>
                </a:solidFill>
                <a:latin typeface="Montserrat" pitchFamily="34" charset="0"/>
              </a:rPr>
              <a:t>essentiels</a:t>
            </a:r>
            <a:r>
              <a:rPr lang="en-US" sz="1500" dirty="0">
                <a:solidFill>
                  <a:srgbClr val="272525"/>
                </a:solidFill>
                <a:latin typeface="Montserrat" pitchFamily="34" charset="0"/>
              </a:rPr>
              <a:t>”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endParaRPr lang="fr-FR" sz="1500" dirty="0">
              <a:solidFill>
                <a:srgbClr val="272525"/>
              </a:solidFill>
              <a:latin typeface="Montserrat" pitchFamily="34" charset="0"/>
            </a:endParaRPr>
          </a:p>
          <a:p>
            <a:pPr fontAlgn="ctr"/>
            <a:endParaRPr lang="fr-FR" b="1" dirty="0">
              <a:solidFill>
                <a:srgbClr val="272525"/>
              </a:solidFill>
              <a:latin typeface="Verdana Pro" panose="020B0604030504040204" pitchFamily="34" charset="0"/>
              <a:ea typeface="Barlow Bold" pitchFamily="34" charset="-122"/>
            </a:endParaRPr>
          </a:p>
          <a:p>
            <a:pPr fontAlgn="ctr"/>
            <a:endParaRPr lang="fr-FR" b="1" dirty="0">
              <a:solidFill>
                <a:srgbClr val="272525"/>
              </a:solidFill>
              <a:latin typeface="Verdana Pro" panose="020B0604030504040204" pitchFamily="34" charset="0"/>
              <a:ea typeface="Barlow Bold" pitchFamily="34" charset="-122"/>
            </a:endParaRPr>
          </a:p>
          <a:p>
            <a:pPr>
              <a:lnSpc>
                <a:spcPts val="2500"/>
              </a:lnSpc>
            </a:pPr>
            <a:endParaRPr lang="en-US" b="1" dirty="0">
              <a:solidFill>
                <a:srgbClr val="272525"/>
              </a:solidFill>
              <a:latin typeface="Verdana Pro" panose="020B0604030504040204" pitchFamily="34" charset="0"/>
              <a:ea typeface="Barlow Bold" pitchFamily="34" charset="-122"/>
            </a:endParaRP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21017E56-BC82-96AE-F5B6-9D393B752AB6}"/>
              </a:ext>
            </a:extLst>
          </p:cNvPr>
          <p:cNvSpPr/>
          <p:nvPr/>
        </p:nvSpPr>
        <p:spPr>
          <a:xfrm>
            <a:off x="750570" y="2755932"/>
            <a:ext cx="11275526" cy="670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Enseignements et Conclusion </a:t>
            </a:r>
            <a:r>
              <a:rPr lang="en-US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(2/2)</a:t>
            </a:r>
            <a:endParaRPr lang="en-US" sz="4200" dirty="0">
              <a:latin typeface="Verdana Pro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16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39BAF-AE4D-EA44-B7DA-0742E949C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DF5F1AD-62E8-1265-48F9-90E517C280AF}"/>
              </a:ext>
            </a:extLst>
          </p:cNvPr>
          <p:cNvSpPr/>
          <p:nvPr/>
        </p:nvSpPr>
        <p:spPr>
          <a:xfrm>
            <a:off x="474562" y="2720051"/>
            <a:ext cx="13403484" cy="311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endParaRPr lang="en-US" sz="7200" b="1" u="sng" dirty="0">
              <a:solidFill>
                <a:srgbClr val="7068F4"/>
              </a:solidFill>
              <a:latin typeface="Verdana Pro" panose="020B0604030504040204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ctr">
              <a:lnSpc>
                <a:spcPts val="5600"/>
              </a:lnSpc>
              <a:buNone/>
            </a:pPr>
            <a:r>
              <a:rPr lang="en-US" sz="11500" b="1" dirty="0">
                <a:solidFill>
                  <a:srgbClr val="FF3399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MERCI </a:t>
            </a:r>
          </a:p>
          <a:p>
            <a:pPr marL="0" indent="0" algn="ctr">
              <a:lnSpc>
                <a:spcPts val="5600"/>
              </a:lnSpc>
              <a:buNone/>
            </a:pPr>
            <a:endParaRPr lang="en-US" sz="7200" b="1" dirty="0">
              <a:solidFill>
                <a:srgbClr val="FF3399"/>
              </a:solidFill>
              <a:latin typeface="Verdana Pro" panose="020B0604030504040204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ctr">
              <a:lnSpc>
                <a:spcPts val="5600"/>
              </a:lnSpc>
              <a:buNone/>
            </a:pPr>
            <a:r>
              <a:rPr lang="en-US" sz="7200" b="1" dirty="0">
                <a:solidFill>
                  <a:srgbClr val="FF3399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  <a:sym typeface="Wingdings" panose="05000000000000000000" pitchFamily="2" charset="2"/>
              </a:rPr>
              <a:t> !!</a:t>
            </a:r>
            <a:endParaRPr lang="en-US" sz="7200" b="1" dirty="0">
              <a:solidFill>
                <a:srgbClr val="FF3399"/>
              </a:solidFill>
              <a:latin typeface="Verdana Pro" panose="020B0604030504040204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ctr">
              <a:lnSpc>
                <a:spcPts val="5600"/>
              </a:lnSpc>
              <a:buNone/>
            </a:pPr>
            <a:endParaRPr lang="en-US" sz="7200" u="sng" dirty="0">
              <a:latin typeface="Verdana Pro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691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A8B60-CB48-9D06-6EC0-C9CB700B1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B307051-113A-8982-2A0E-23973932D3E5}"/>
              </a:ext>
            </a:extLst>
          </p:cNvPr>
          <p:cNvSpPr/>
          <p:nvPr/>
        </p:nvSpPr>
        <p:spPr>
          <a:xfrm>
            <a:off x="474562" y="2974693"/>
            <a:ext cx="13403484" cy="311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endParaRPr lang="en-US" sz="7200" b="1" u="sng" dirty="0">
              <a:solidFill>
                <a:srgbClr val="7068F4"/>
              </a:solidFill>
              <a:latin typeface="Verdana Pro" panose="020B0604030504040204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ctr">
              <a:lnSpc>
                <a:spcPts val="5600"/>
              </a:lnSpc>
              <a:buNone/>
            </a:pPr>
            <a:r>
              <a:rPr lang="en-US" sz="11500" b="1" dirty="0">
                <a:solidFill>
                  <a:srgbClr val="0066FF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Q &amp; R</a:t>
            </a:r>
          </a:p>
          <a:p>
            <a:pPr marL="0" indent="0" algn="ctr">
              <a:lnSpc>
                <a:spcPts val="5600"/>
              </a:lnSpc>
              <a:buNone/>
            </a:pPr>
            <a:endParaRPr lang="en-US" sz="7200" b="1" dirty="0">
              <a:solidFill>
                <a:srgbClr val="0066FF"/>
              </a:solidFill>
              <a:latin typeface="Verdana Pro" panose="020B0604030504040204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ctr">
              <a:lnSpc>
                <a:spcPts val="5600"/>
              </a:lnSpc>
              <a:buNone/>
            </a:pPr>
            <a:r>
              <a:rPr lang="en-US" sz="7200" b="1" dirty="0">
                <a:solidFill>
                  <a:srgbClr val="0066FF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???</a:t>
            </a:r>
          </a:p>
          <a:p>
            <a:pPr marL="0" indent="0" algn="ctr">
              <a:lnSpc>
                <a:spcPts val="5600"/>
              </a:lnSpc>
              <a:buNone/>
            </a:pPr>
            <a:endParaRPr lang="en-US" sz="7200" b="1" dirty="0">
              <a:solidFill>
                <a:srgbClr val="FF3399"/>
              </a:solidFill>
              <a:latin typeface="Verdana Pro" panose="020B0604030504040204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ctr">
              <a:lnSpc>
                <a:spcPts val="5600"/>
              </a:lnSpc>
              <a:buNone/>
            </a:pPr>
            <a:endParaRPr lang="en-US" sz="7200" u="sng" dirty="0">
              <a:latin typeface="Verdana Pro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233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8" y="3512564"/>
            <a:ext cx="763333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7200" b="1" u="sng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Annexes</a:t>
            </a:r>
            <a:endParaRPr lang="en-US" sz="7200" u="sng" dirty="0">
              <a:latin typeface="Verdana Pro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135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5932-9BE6-3625-D28A-8C2114DC8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2E29762-FCEF-6A11-F2D4-0B536A475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947" y="768301"/>
            <a:ext cx="7504909" cy="74612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5F671C-C884-AD4F-7FA6-8AE23A7BD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6" y="-6109"/>
            <a:ext cx="13472932" cy="889634"/>
          </a:xfrm>
        </p:spPr>
        <p:txBody>
          <a:bodyPr/>
          <a:lstStyle/>
          <a:p>
            <a:r>
              <a:rPr lang="fr-FR" sz="445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Distrib</a:t>
            </a:r>
            <a:r>
              <a:rPr sz="4450" b="1" dirty="0" err="1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ution</a:t>
            </a:r>
            <a:r>
              <a:rPr sz="445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 </a:t>
            </a:r>
            <a:r>
              <a:rPr lang="fr-FR" sz="445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of </a:t>
            </a:r>
            <a:r>
              <a:rPr lang="fr-FR" sz="4450" b="1" dirty="0" err="1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Categorical</a:t>
            </a:r>
            <a:r>
              <a:rPr lang="fr-FR" sz="445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 Variables</a:t>
            </a:r>
            <a:endParaRPr sz="4450" b="1" dirty="0">
              <a:solidFill>
                <a:srgbClr val="7068F4"/>
              </a:solidFill>
              <a:latin typeface="Verdana Pro" panose="020B0604030504040204" pitchFamily="34" charset="0"/>
              <a:ea typeface="Barlow Bold" pitchFamily="34" charset="-122"/>
            </a:endParaRPr>
          </a:p>
        </p:txBody>
      </p:sp>
      <p:sp>
        <p:nvSpPr>
          <p:cNvPr id="6" name="Bouton d’action : retour ou précédent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F6312B9-F042-F370-4E96-08CB636CD604}"/>
              </a:ext>
            </a:extLst>
          </p:cNvPr>
          <p:cNvSpPr/>
          <p:nvPr/>
        </p:nvSpPr>
        <p:spPr>
          <a:xfrm>
            <a:off x="13607716" y="7375358"/>
            <a:ext cx="493295" cy="524676"/>
          </a:xfrm>
          <a:prstGeom prst="actionButtonBackPrevio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144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748E3-AB7A-20FD-9C16-431089CC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63324-25E2-641C-559A-25469421B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71" y="-6109"/>
            <a:ext cx="14225285" cy="889634"/>
          </a:xfrm>
        </p:spPr>
        <p:txBody>
          <a:bodyPr/>
          <a:lstStyle/>
          <a:p>
            <a:r>
              <a:rPr lang="fr-FR" sz="360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Comparaison « Essentiels » vs « Non essentiels »</a:t>
            </a:r>
            <a:endParaRPr sz="3600" b="1" dirty="0">
              <a:solidFill>
                <a:srgbClr val="7068F4"/>
              </a:solidFill>
              <a:latin typeface="Verdana Pro" panose="020B0604030504040204" pitchFamily="34" charset="0"/>
              <a:ea typeface="Barlow Bold" pitchFamily="34" charset="-122"/>
            </a:endParaRPr>
          </a:p>
        </p:txBody>
      </p:sp>
      <p:sp>
        <p:nvSpPr>
          <p:cNvPr id="6" name="Bouton d’action : retour ou précédent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F2A0892-4F80-CD6A-3D94-BE1590920A60}"/>
              </a:ext>
            </a:extLst>
          </p:cNvPr>
          <p:cNvSpPr/>
          <p:nvPr/>
        </p:nvSpPr>
        <p:spPr>
          <a:xfrm>
            <a:off x="13607716" y="7375358"/>
            <a:ext cx="493295" cy="524676"/>
          </a:xfrm>
          <a:prstGeom prst="actionButtonBackPrevio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CF44D2A-0DB6-F062-CEE5-B93F41D79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579" y="1561519"/>
            <a:ext cx="8611565" cy="641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42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8CC56-494B-3E28-35D3-D048563B3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A5E3-091E-5816-33F6-DF15815B7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6" y="-6109"/>
            <a:ext cx="13472932" cy="889634"/>
          </a:xfrm>
        </p:spPr>
        <p:txBody>
          <a:bodyPr/>
          <a:lstStyle/>
          <a:p>
            <a:r>
              <a:rPr lang="fr-FR" sz="4000" b="1" u="sng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Matrice Volumes x Prix moyens par Catégorie </a:t>
            </a:r>
            <a:endParaRPr sz="4000" b="1" dirty="0">
              <a:solidFill>
                <a:srgbClr val="7068F4"/>
              </a:solidFill>
              <a:latin typeface="Verdana Pro" panose="020B0604030504040204" pitchFamily="34" charset="0"/>
              <a:ea typeface="Barlow Bold" pitchFamily="34" charset="-122"/>
            </a:endParaRPr>
          </a:p>
        </p:txBody>
      </p:sp>
      <p:sp>
        <p:nvSpPr>
          <p:cNvPr id="6" name="Bouton d’action : retour ou précédent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C6F42DE-E2E7-B559-32F4-7EFABE12C94E}"/>
              </a:ext>
            </a:extLst>
          </p:cNvPr>
          <p:cNvSpPr/>
          <p:nvPr/>
        </p:nvSpPr>
        <p:spPr>
          <a:xfrm>
            <a:off x="13607716" y="7375358"/>
            <a:ext cx="493295" cy="524676"/>
          </a:xfrm>
          <a:prstGeom prst="actionButtonBackPrevio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7E716CE-8A22-0D74-0BE7-D85FF0529A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8"/>
          <a:stretch>
            <a:fillRect/>
          </a:stretch>
        </p:blipFill>
        <p:spPr bwMode="auto">
          <a:xfrm>
            <a:off x="0" y="1979271"/>
            <a:ext cx="14630400" cy="452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8741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A012-AFFC-3486-6D38-1272DB310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F0A00-062D-1C30-6749-ED18210A2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6" y="-6109"/>
            <a:ext cx="13472932" cy="889634"/>
          </a:xfrm>
        </p:spPr>
        <p:txBody>
          <a:bodyPr/>
          <a:lstStyle/>
          <a:p>
            <a:r>
              <a:rPr lang="fr-FR" sz="445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Distrib</a:t>
            </a:r>
            <a:r>
              <a:rPr sz="4450" b="1" dirty="0" err="1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ution</a:t>
            </a:r>
            <a:r>
              <a:rPr sz="445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 </a:t>
            </a:r>
            <a:r>
              <a:rPr lang="fr-FR" sz="445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des Prix par Catégories</a:t>
            </a:r>
            <a:endParaRPr sz="4450" b="1" dirty="0">
              <a:solidFill>
                <a:srgbClr val="7068F4"/>
              </a:solidFill>
              <a:latin typeface="Verdana Pro" panose="020B0604030504040204" pitchFamily="34" charset="0"/>
              <a:ea typeface="Barlow Bold" pitchFamily="34" charset="-122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EAFC4C8-6ACA-2728-09CA-169D3B154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575" y="1119973"/>
            <a:ext cx="14630400" cy="6429503"/>
          </a:xfrm>
          <a:prstGeom prst="rect">
            <a:avLst/>
          </a:prstGeom>
        </p:spPr>
      </p:pic>
      <p:sp>
        <p:nvSpPr>
          <p:cNvPr id="6" name="Bouton d’action : retour ou précédent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BA867A8-D216-F627-4C68-47E91EAE5FA8}"/>
              </a:ext>
            </a:extLst>
          </p:cNvPr>
          <p:cNvSpPr/>
          <p:nvPr/>
        </p:nvSpPr>
        <p:spPr>
          <a:xfrm>
            <a:off x="13607716" y="7375358"/>
            <a:ext cx="493295" cy="524676"/>
          </a:xfrm>
          <a:prstGeom prst="actionButtonBackPrevio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727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2BE42B-A96D-0E0E-EA9F-BB1ED0773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262D76C-905E-FA0C-E5CD-77BE2F7D2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864" y="1843087"/>
            <a:ext cx="11201400" cy="542398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BDFA58-D292-D704-61B4-73F7053BB86C}"/>
              </a:ext>
            </a:extLst>
          </p:cNvPr>
          <p:cNvSpPr txBox="1">
            <a:spLocks/>
          </p:cNvSpPr>
          <p:nvPr/>
        </p:nvSpPr>
        <p:spPr>
          <a:xfrm>
            <a:off x="312516" y="329566"/>
            <a:ext cx="13472932" cy="889634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Evolution des prix moyens (2017 – 2025)</a:t>
            </a:r>
          </a:p>
        </p:txBody>
      </p:sp>
      <p:sp>
        <p:nvSpPr>
          <p:cNvPr id="6" name="Bouton d’action : retour ou précédent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9E971BD-88C0-2B44-D79C-A87355225556}"/>
              </a:ext>
            </a:extLst>
          </p:cNvPr>
          <p:cNvSpPr/>
          <p:nvPr/>
        </p:nvSpPr>
        <p:spPr>
          <a:xfrm>
            <a:off x="13607716" y="7375358"/>
            <a:ext cx="493295" cy="524676"/>
          </a:xfrm>
          <a:prstGeom prst="actionButtonBackPrevio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4975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sz="3360" b="1" i="1" dirty="0">
              <a:solidFill>
                <a:srgbClr val="FF0066"/>
              </a:solidFill>
              <a:latin typeface="Verdana Pro" panose="020B0604030504040204" pitchFamily="34" charset="0"/>
            </a:endParaRPr>
          </a:p>
        </p:txBody>
      </p:sp>
      <p:pic>
        <p:nvPicPr>
          <p:cNvPr id="3" name="Picture 2" descr="essentiel_vs_nonessenti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92" y="2260441"/>
            <a:ext cx="10840849" cy="5969159"/>
          </a:xfrm>
          <a:prstGeom prst="rect">
            <a:avLst/>
          </a:prstGeom>
        </p:spPr>
      </p:pic>
      <p:sp>
        <p:nvSpPr>
          <p:cNvPr id="4" name="Bouton d’action : retour ou précédent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F01052B-660E-0897-4FE7-BCEF7441F754}"/>
              </a:ext>
            </a:extLst>
          </p:cNvPr>
          <p:cNvSpPr/>
          <p:nvPr/>
        </p:nvSpPr>
        <p:spPr>
          <a:xfrm>
            <a:off x="13252781" y="7318747"/>
            <a:ext cx="694944" cy="499872"/>
          </a:xfrm>
          <a:prstGeom prst="actionButtonBackPrevio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6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1BA3A11-3368-40AE-0A7C-9CB5E2091F35}"/>
              </a:ext>
            </a:extLst>
          </p:cNvPr>
          <p:cNvSpPr txBox="1"/>
          <p:nvPr/>
        </p:nvSpPr>
        <p:spPr>
          <a:xfrm>
            <a:off x="544010" y="532685"/>
            <a:ext cx="13611828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sz="445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  <a:cs typeface="+mj-cs"/>
              </a:rPr>
              <a:t>Produits essentiels vs non-essentiels</a:t>
            </a:r>
          </a:p>
        </p:txBody>
      </p:sp>
      <p:sp>
        <p:nvSpPr>
          <p:cNvPr id="5" name="Bouton d’action : retour ou précédent 4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422D469-3402-4990-61EB-7871199459F8}"/>
              </a:ext>
            </a:extLst>
          </p:cNvPr>
          <p:cNvSpPr/>
          <p:nvPr/>
        </p:nvSpPr>
        <p:spPr>
          <a:xfrm>
            <a:off x="13607716" y="7375358"/>
            <a:ext cx="493295" cy="524676"/>
          </a:xfrm>
          <a:prstGeom prst="actionButtonBackPrevio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142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516" y="329566"/>
            <a:ext cx="13472932" cy="889634"/>
          </a:xfrm>
        </p:spPr>
        <p:txBody>
          <a:bodyPr/>
          <a:lstStyle/>
          <a:p>
            <a:r>
              <a:rPr sz="445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Evolution des prix par </a:t>
            </a:r>
            <a:r>
              <a:rPr sz="4450" b="1" dirty="0" err="1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categorie</a:t>
            </a:r>
            <a:r>
              <a:rPr lang="fr-FR" sz="445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s</a:t>
            </a:r>
            <a:endParaRPr sz="4450" b="1" dirty="0">
              <a:solidFill>
                <a:srgbClr val="7068F4"/>
              </a:solidFill>
              <a:latin typeface="Verdana Pro" panose="020B0604030504040204" pitchFamily="34" charset="0"/>
              <a:ea typeface="Barlow Bold" pitchFamily="34" charset="-122"/>
            </a:endParaRPr>
          </a:p>
        </p:txBody>
      </p:sp>
      <p:pic>
        <p:nvPicPr>
          <p:cNvPr id="3" name="Picture 2" descr="evolution_prix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543" y="1290134"/>
            <a:ext cx="10787605" cy="6259475"/>
          </a:xfrm>
          <a:prstGeom prst="rect">
            <a:avLst/>
          </a:prstGeom>
        </p:spPr>
      </p:pic>
      <p:sp>
        <p:nvSpPr>
          <p:cNvPr id="4" name="Bouton d’action : retour ou précédent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E69DA3F-6757-E5B6-8D72-0258C8B666E9}"/>
              </a:ext>
            </a:extLst>
          </p:cNvPr>
          <p:cNvSpPr/>
          <p:nvPr/>
        </p:nvSpPr>
        <p:spPr>
          <a:xfrm>
            <a:off x="13607716" y="7375358"/>
            <a:ext cx="493295" cy="524676"/>
          </a:xfrm>
          <a:prstGeom prst="actionButtonBackPrevio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2373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353F8-83FA-438F-A09D-147AFA1E6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60013-6C85-290B-C34A-5850AA43F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6" y="-6109"/>
            <a:ext cx="13472932" cy="889634"/>
          </a:xfrm>
        </p:spPr>
        <p:txBody>
          <a:bodyPr/>
          <a:lstStyle/>
          <a:p>
            <a:r>
              <a:rPr lang="fr-FR" sz="4450" b="1" u="sng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Evolution du prix moyen par catégorie </a:t>
            </a:r>
            <a:endParaRPr sz="4450" b="1" dirty="0">
              <a:solidFill>
                <a:srgbClr val="7068F4"/>
              </a:solidFill>
              <a:latin typeface="Verdana Pro" panose="020B0604030504040204" pitchFamily="34" charset="0"/>
              <a:ea typeface="Barlow Bold" pitchFamily="34" charset="-122"/>
            </a:endParaRPr>
          </a:p>
        </p:txBody>
      </p:sp>
      <p:sp>
        <p:nvSpPr>
          <p:cNvPr id="6" name="Bouton d’action : retour ou précédent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E08EF7F-430B-36AB-926F-D2345CCD6B88}"/>
              </a:ext>
            </a:extLst>
          </p:cNvPr>
          <p:cNvSpPr/>
          <p:nvPr/>
        </p:nvSpPr>
        <p:spPr>
          <a:xfrm>
            <a:off x="13607716" y="7375358"/>
            <a:ext cx="493295" cy="524676"/>
          </a:xfrm>
          <a:prstGeom prst="actionButtonBackPrevio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24A509F-D97B-A5E3-A713-029E08A68B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4" b="63993"/>
          <a:stretch>
            <a:fillRect/>
          </a:stretch>
        </p:blipFill>
        <p:spPr bwMode="auto">
          <a:xfrm>
            <a:off x="841220" y="1193412"/>
            <a:ext cx="12415524" cy="624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190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1305C-35D7-197E-68F9-47A495D52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B58F6-756B-EFE1-E654-8658859FA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6" y="-6109"/>
            <a:ext cx="13472932" cy="889634"/>
          </a:xfrm>
        </p:spPr>
        <p:txBody>
          <a:bodyPr/>
          <a:lstStyle/>
          <a:p>
            <a:r>
              <a:rPr lang="fr-FR" sz="4450" b="1" u="sng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Matrice de Corrélation </a:t>
            </a:r>
            <a:endParaRPr sz="4450" b="1" dirty="0">
              <a:solidFill>
                <a:srgbClr val="7068F4"/>
              </a:solidFill>
              <a:latin typeface="Verdana Pro" panose="020B0604030504040204" pitchFamily="34" charset="0"/>
              <a:ea typeface="Barlow Bold" pitchFamily="34" charset="-122"/>
            </a:endParaRPr>
          </a:p>
        </p:txBody>
      </p:sp>
      <p:sp>
        <p:nvSpPr>
          <p:cNvPr id="6" name="Bouton d’action : retour ou précédent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4F609F8F-3DBA-CD70-5A93-AFCB654DEA06}"/>
              </a:ext>
            </a:extLst>
          </p:cNvPr>
          <p:cNvSpPr/>
          <p:nvPr/>
        </p:nvSpPr>
        <p:spPr>
          <a:xfrm>
            <a:off x="13607716" y="7375358"/>
            <a:ext cx="493295" cy="524676"/>
          </a:xfrm>
          <a:prstGeom prst="actionButtonBackPrevio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198C17F-7503-F512-5068-9D0EA7A6F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897" y="1651472"/>
            <a:ext cx="8406109" cy="624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0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3FFB3-C545-0027-A689-B1EC9B981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2F994-D6C9-E916-2D93-F861B8FC5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6" y="-6109"/>
            <a:ext cx="13472932" cy="889634"/>
          </a:xfrm>
        </p:spPr>
        <p:txBody>
          <a:bodyPr/>
          <a:lstStyle/>
          <a:p>
            <a:r>
              <a:rPr lang="fr-FR" sz="4450" b="1" u="sng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Niveau moyen de </a:t>
            </a:r>
            <a:r>
              <a:rPr lang="fr-FR" sz="4450" b="1" u="sng" dirty="0" err="1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review</a:t>
            </a:r>
            <a:r>
              <a:rPr lang="fr-FR" sz="4450" b="1" u="sng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 par produit </a:t>
            </a:r>
            <a:r>
              <a:rPr lang="fr-FR" sz="4450" b="1" u="sng" dirty="0" err="1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atrice</a:t>
            </a:r>
            <a:r>
              <a:rPr lang="fr-FR" sz="4450" b="1" u="sng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 de Corrélation </a:t>
            </a:r>
            <a:r>
              <a:rPr lang="fr-FR" sz="240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(via </a:t>
            </a:r>
            <a:r>
              <a:rPr lang="fr-FR" sz="2400" b="1" dirty="0" err="1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Spiermann</a:t>
            </a:r>
            <a:r>
              <a:rPr lang="fr-FR" sz="240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)</a:t>
            </a:r>
            <a:endParaRPr sz="4450" b="1" dirty="0">
              <a:solidFill>
                <a:srgbClr val="7068F4"/>
              </a:solidFill>
              <a:latin typeface="Verdana Pro" panose="020B0604030504040204" pitchFamily="34" charset="0"/>
              <a:ea typeface="Barlow Bold" pitchFamily="34" charset="-122"/>
            </a:endParaRPr>
          </a:p>
        </p:txBody>
      </p:sp>
      <p:sp>
        <p:nvSpPr>
          <p:cNvPr id="6" name="Bouton d’action : retour ou précédent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69FF27C-8595-4D11-BE7E-4559BE4DD15F}"/>
              </a:ext>
            </a:extLst>
          </p:cNvPr>
          <p:cNvSpPr/>
          <p:nvPr/>
        </p:nvSpPr>
        <p:spPr>
          <a:xfrm>
            <a:off x="13607716" y="7375358"/>
            <a:ext cx="493295" cy="524676"/>
          </a:xfrm>
          <a:prstGeom prst="actionButtonBackPrevio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C3C504A-8095-95AB-71D1-C4CEDD368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7472"/>
            <a:ext cx="14630400" cy="7913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422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0E757-AA3E-608B-5E63-5FA6227DD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A2D12BE-67F7-345D-C28A-EC8399CFD4B7}"/>
              </a:ext>
            </a:extLst>
          </p:cNvPr>
          <p:cNvSpPr/>
          <p:nvPr/>
        </p:nvSpPr>
        <p:spPr>
          <a:xfrm>
            <a:off x="758309" y="465354"/>
            <a:ext cx="1191094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00"/>
              </a:lnSpc>
            </a:pPr>
            <a:r>
              <a:rPr lang="fr-FR" altLang="fr-FR" sz="3600" b="1" u="sng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Répartition des plus grandes chaînes au Canada </a:t>
            </a:r>
          </a:p>
          <a:p>
            <a:pPr>
              <a:lnSpc>
                <a:spcPts val="5600"/>
              </a:lnSpc>
            </a:pPr>
            <a:r>
              <a:rPr lang="fr-FR" altLang="fr-FR" sz="1400" b="1" i="1" u="sng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</a:rPr>
              <a:t>Nombre de magasins – août 2024</a:t>
            </a:r>
            <a:endParaRPr lang="en-US" sz="3600" u="sng" dirty="0">
              <a:latin typeface="Verdana Pro" panose="020B0604030504040204" pitchFamily="34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B51F25A3-4D63-A1FC-1BE9-34B5475FA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462744"/>
              </p:ext>
            </p:extLst>
          </p:nvPr>
        </p:nvGraphicFramePr>
        <p:xfrm>
          <a:off x="1006474" y="2116981"/>
          <a:ext cx="12617451" cy="4663440"/>
        </p:xfrm>
        <a:graphic>
          <a:graphicData uri="http://schemas.openxmlformats.org/drawingml/2006/table">
            <a:tbl>
              <a:tblPr/>
              <a:tblGrid>
                <a:gridCol w="4205817">
                  <a:extLst>
                    <a:ext uri="{9D8B030D-6E8A-4147-A177-3AD203B41FA5}">
                      <a16:colId xmlns:a16="http://schemas.microsoft.com/office/drawing/2014/main" val="4144486278"/>
                    </a:ext>
                  </a:extLst>
                </a:gridCol>
                <a:gridCol w="4205817">
                  <a:extLst>
                    <a:ext uri="{9D8B030D-6E8A-4147-A177-3AD203B41FA5}">
                      <a16:colId xmlns:a16="http://schemas.microsoft.com/office/drawing/2014/main" val="3464571093"/>
                    </a:ext>
                  </a:extLst>
                </a:gridCol>
                <a:gridCol w="4205817">
                  <a:extLst>
                    <a:ext uri="{9D8B030D-6E8A-4147-A177-3AD203B41FA5}">
                      <a16:colId xmlns:a16="http://schemas.microsoft.com/office/drawing/2014/main" val="398553544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fr-FR" sz="2400" b="1" dirty="0">
                          <a:solidFill>
                            <a:schemeClr val="accent1"/>
                          </a:solidFill>
                        </a:rPr>
                        <a:t>Rang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dirty="0">
                          <a:solidFill>
                            <a:schemeClr val="accent1"/>
                          </a:solidFill>
                        </a:rPr>
                        <a:t>Chaîne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dirty="0">
                          <a:solidFill>
                            <a:schemeClr val="accent1"/>
                          </a:solidFill>
                        </a:rPr>
                        <a:t>Magasins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2249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accent1"/>
                          </a:solidFill>
                        </a:rPr>
                        <a:t>Walmart Canada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~403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7979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No Frills (Loblaw)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~288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49542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Sobeys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accent1"/>
                          </a:solidFill>
                        </a:rPr>
                        <a:t>~238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1937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Foodland (Empire)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~213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20855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Maxi (UB Force – Québec)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~173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4413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Your Independent Grocer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~165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00155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Safeway (Empire)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~153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6933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Real Canadian Superstore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~120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0431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Atlantic Superstore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~52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54284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>
                          <a:solidFill>
                            <a:schemeClr val="accent1"/>
                          </a:solidFill>
                        </a:rPr>
                        <a:t>Loblaws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accent1"/>
                          </a:solidFill>
                        </a:rPr>
                        <a:t>~50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327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53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37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824362"/>
            <a:ext cx="5131356" cy="641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7068F4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Conclusion</a:t>
            </a:r>
            <a:endParaRPr lang="en-US" sz="4000" dirty="0">
              <a:latin typeface="Verdana Pro" panose="020B0604030504040204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3468804"/>
            <a:ext cx="4371261" cy="7799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3214" y="4212188"/>
            <a:ext cx="3027283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  <a:cs typeface="Barlow Bold" pitchFamily="34" charset="-120"/>
              </a:rPr>
              <a:t>Structuration des données</a:t>
            </a:r>
            <a:endParaRPr lang="en-US" dirty="0">
              <a:latin typeface="Verdana Pro" panose="020B060403050404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953214" y="4649742"/>
            <a:ext cx="3981450" cy="623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Structuration temporelle et catégorielle essentielle pour l'analyse des prix.</a:t>
            </a:r>
          </a:p>
          <a:p>
            <a:pPr marL="0" indent="0" algn="l">
              <a:lnSpc>
                <a:spcPts val="2450"/>
              </a:lnSpc>
              <a:buNone/>
            </a:pPr>
            <a:endParaRPr lang="en-US" sz="1500" dirty="0">
              <a:solidFill>
                <a:srgbClr val="272525"/>
              </a:solidFill>
              <a:latin typeface="Montserrat" pitchFamily="34" charset="0"/>
            </a:endParaRP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fr-FR" dirty="0"/>
              <a:t>Comment les prix des produits populaires évoluent-ils au fil du temps, et observe-t-on des tendances saisonnières ?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fr-FR" dirty="0"/>
              <a:t>Comment les avis et les notes des clients sont-ils corrélés aux prix des produits ?</a:t>
            </a:r>
          </a:p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953214" y="6409134"/>
            <a:ext cx="398145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53214" y="6837998"/>
            <a:ext cx="398145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570" y="3468804"/>
            <a:ext cx="4371261" cy="7799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24475" y="4212189"/>
            <a:ext cx="3981450" cy="31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Identification des tendances</a:t>
            </a:r>
          </a:p>
          <a:p>
            <a:pPr>
              <a:lnSpc>
                <a:spcPts val="2500"/>
              </a:lnSpc>
            </a:pPr>
            <a:endParaRPr lang="en-US" b="1" dirty="0">
              <a:solidFill>
                <a:srgbClr val="272525"/>
              </a:solidFill>
              <a:latin typeface="Verdana Pro" panose="020B0604030504040204" pitchFamily="34" charset="0"/>
              <a:ea typeface="Barlow Bold" pitchFamily="34" charset="-122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324475" y="4649742"/>
            <a:ext cx="3981450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Visualisation</a:t>
            </a: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claire</a:t>
            </a: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des variations </a:t>
            </a:r>
            <a:r>
              <a:rPr lang="en-US" sz="15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saisonnières</a:t>
            </a: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et des différences entre produits essentiels et non-essentiels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0830" y="3468804"/>
            <a:ext cx="4371261" cy="7799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95736" y="4212188"/>
            <a:ext cx="2777847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Anticipation </a:t>
            </a:r>
            <a:r>
              <a:rPr lang="en-US" b="1" dirty="0" err="1">
                <a:solidFill>
                  <a:srgbClr val="272525"/>
                </a:solidFill>
                <a:latin typeface="Verdana Pro" panose="020B0604030504040204" pitchFamily="34" charset="0"/>
                <a:ea typeface="Barlow Bold" pitchFamily="34" charset="-122"/>
              </a:rPr>
              <a:t>stratégique</a:t>
            </a:r>
            <a:endParaRPr lang="en-US" b="1" dirty="0">
              <a:solidFill>
                <a:srgbClr val="272525"/>
              </a:solidFill>
              <a:latin typeface="Verdana Pro" panose="020B0604030504040204" pitchFamily="34" charset="0"/>
              <a:ea typeface="Barlow Bold" pitchFamily="34" charset="-122"/>
            </a:endParaRPr>
          </a:p>
        </p:txBody>
      </p:sp>
      <p:sp>
        <p:nvSpPr>
          <p:cNvPr id="14" name="Text 8"/>
          <p:cNvSpPr/>
          <p:nvPr/>
        </p:nvSpPr>
        <p:spPr>
          <a:xfrm>
            <a:off x="9695736" y="4649742"/>
            <a:ext cx="3981450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Démarche permettant de surveiller et prévoir l'évolution des prix alimentaires pour optimiser les stratégies d'achat</a:t>
            </a:r>
            <a:endParaRPr lang="en-US" sz="15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3187E1F-A1A7-9950-9F07-A710EB52D2F9}"/>
              </a:ext>
            </a:extLst>
          </p:cNvPr>
          <p:cNvSpPr txBox="1"/>
          <p:nvPr/>
        </p:nvSpPr>
        <p:spPr>
          <a:xfrm>
            <a:off x="416689" y="7671911"/>
            <a:ext cx="124312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i="1" dirty="0">
                <a:solidFill>
                  <a:schemeClr val="tx2"/>
                </a:solidFill>
                <a:latin typeface="Verdana Pro" panose="020B0604030504040204" pitchFamily="34" charset="0"/>
              </a:rPr>
              <a:t>Price Tracker: The Hunt for the Best Deals</a:t>
            </a:r>
            <a:endParaRPr lang="fr-FR" sz="1600" i="1" dirty="0"/>
          </a:p>
        </p:txBody>
      </p:sp>
    </p:spTree>
    <p:extLst>
      <p:ext uri="{BB962C8B-B14F-4D97-AF65-F5344CB8AC3E}">
        <p14:creationId xmlns:p14="http://schemas.microsoft.com/office/powerpoint/2010/main" val="3261817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796</Words>
  <Application>Microsoft Office PowerPoint</Application>
  <PresentationFormat>Personnalisé</PresentationFormat>
  <Paragraphs>168</Paragraphs>
  <Slides>20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Montserrat Medium</vt:lpstr>
      <vt:lpstr>Wingdings</vt:lpstr>
      <vt:lpstr>Montserrat</vt:lpstr>
      <vt:lpstr>Arial</vt:lpstr>
      <vt:lpstr>Verdana Pro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Distribution of Categorical Variables</vt:lpstr>
      <vt:lpstr>Comparaison « Essentiels » vs « Non essentiels »</vt:lpstr>
      <vt:lpstr>Matrice Volumes x Prix moyens par Catégorie </vt:lpstr>
      <vt:lpstr>Distribution des Prix par Catégories</vt:lpstr>
      <vt:lpstr>Présentation PowerPoint</vt:lpstr>
      <vt:lpstr>Présentation PowerPoint</vt:lpstr>
      <vt:lpstr>Evolution des prix par categories</vt:lpstr>
      <vt:lpstr>Evolution du prix moyen par catégorie </vt:lpstr>
      <vt:lpstr>Matrice de Corrélation </vt:lpstr>
      <vt:lpstr>Niveau moyen de review par produit atrice de Corrélation (via Spiermann)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Olivier de Cibeins</dc:creator>
  <cp:lastModifiedBy>Olivier de Cibeins</cp:lastModifiedBy>
  <cp:revision>14</cp:revision>
  <dcterms:created xsi:type="dcterms:W3CDTF">2025-06-30T08:47:07Z</dcterms:created>
  <dcterms:modified xsi:type="dcterms:W3CDTF">2025-06-30T12:52:31Z</dcterms:modified>
</cp:coreProperties>
</file>